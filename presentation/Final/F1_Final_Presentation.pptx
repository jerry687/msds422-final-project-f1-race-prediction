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23"/>
  </p:notesMasterIdLst>
  <p:sldIdLst>
    <p:sldId id="256" r:id="rId2"/>
    <p:sldId id="257" r:id="rId3"/>
    <p:sldId id="258" r:id="rId4"/>
    <p:sldId id="274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5" r:id="rId15"/>
    <p:sldId id="268" r:id="rId16"/>
    <p:sldId id="269" r:id="rId17"/>
    <p:sldId id="270" r:id="rId18"/>
    <p:sldId id="271" r:id="rId19"/>
    <p:sldId id="273" r:id="rId20"/>
    <p:sldId id="276" r:id="rId21"/>
    <p:sldId id="272" r:id="rId22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2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6BD4940-D55E-4A24-909B-A4CB52139882}">
  <a:tblStyle styleId="{06BD4940-D55E-4A24-909B-A4CB5213988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66134A7-EA12-46B3-960F-E878C2FED40C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6"/>
    <p:restoredTop sz="94658"/>
  </p:normalViewPr>
  <p:slideViewPr>
    <p:cSldViewPr snapToGrid="0">
      <p:cViewPr varScale="1">
        <p:scale>
          <a:sx n="160" d="100"/>
          <a:sy n="160" d="100"/>
        </p:scale>
        <p:origin x="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2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3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cd21382b8c_0_21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g3cd21382b8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cd21382b8c_0_3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g3cd21382b8c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4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5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1F68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36EA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365760" y="4572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4;p3" descr="preencoded.png"/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7132320" y="73152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640080" y="1097280"/>
            <a:ext cx="64008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Formula One Race Outcome Prediction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640080" y="228600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0F0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E8E0F0"/>
                </a:solidFill>
                <a:latin typeface="Calibri"/>
                <a:ea typeface="Calibri"/>
                <a:cs typeface="Calibri"/>
                <a:sym typeface="Calibri"/>
              </a:rPr>
              <a:t>Exploratory Data Analysis &amp; Feature Engineering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640080" y="29260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0F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E8E0F0"/>
                </a:solidFill>
                <a:latin typeface="Calibri"/>
                <a:ea typeface="Calibri"/>
                <a:cs typeface="Calibri"/>
                <a:sym typeface="Calibri"/>
              </a:rPr>
              <a:t>MSDS 422: Practical Machine Learning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640080" y="34747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Authors: </a:t>
            </a:r>
            <a:r>
              <a:rPr lang="en-US" sz="1100">
                <a:solidFill>
                  <a:srgbClr val="E8E0F0"/>
                </a:solidFill>
                <a:latin typeface="Calibri"/>
                <a:ea typeface="Calibri"/>
                <a:cs typeface="Calibri"/>
                <a:sym typeface="Calibri"/>
              </a:rPr>
              <a:t>Sara Alsiyat  ·  Qifan Yang  ·  Boqi Niu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40080" y="37947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Professor: </a:t>
            </a:r>
            <a:r>
              <a:rPr lang="en-US" sz="1100">
                <a:solidFill>
                  <a:srgbClr val="E8E0F0"/>
                </a:solidFill>
                <a:latin typeface="Calibri"/>
                <a:ea typeface="Calibri"/>
                <a:cs typeface="Calibri"/>
                <a:sym typeface="Calibri"/>
              </a:rPr>
              <a:t>Dr. Irene Tsapara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40080" y="41148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Date: </a:t>
            </a:r>
            <a:r>
              <a:rPr lang="en-US" sz="1100" dirty="0">
                <a:solidFill>
                  <a:srgbClr val="E8E0F0"/>
                </a:solidFill>
                <a:latin typeface="Calibri"/>
                <a:ea typeface="Calibri"/>
                <a:cs typeface="Calibri"/>
                <a:sym typeface="Calibri"/>
              </a:rPr>
              <a:t>February – March 2026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836EA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500000" y="730000"/>
            <a:ext cx="320040" cy="32004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960000" y="710000"/>
            <a:ext cx="720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Introduction &amp; Problem Statement</a:t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960000" y="900000"/>
            <a:ext cx="7200000" cy="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Why predict F1 top-10 finishes?</a:t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500000" y="1090000"/>
            <a:ext cx="320040" cy="32004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960000" y="1070000"/>
            <a:ext cx="720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Data Integration Strategy</a:t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960000" y="1260000"/>
            <a:ext cx="7200000" cy="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11 tables merged into one unified dataset</a:t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500000" y="1450000"/>
            <a:ext cx="320040" cy="32004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960000" y="1430000"/>
            <a:ext cx="720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960000" y="1620000"/>
            <a:ext cx="7200000" cy="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Key patterns and insights from 74 years of F1</a:t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500000" y="1810000"/>
            <a:ext cx="320040" cy="32004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960000" y="1790000"/>
            <a:ext cx="720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960000" y="1980000"/>
            <a:ext cx="7200000" cy="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35+ leakage-safe features across 12 categories</a:t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500000" y="2170000"/>
            <a:ext cx="320040" cy="32004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960000" y="2150000"/>
            <a:ext cx="720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Data Leakage Prevention</a:t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960000" y="2340000"/>
            <a:ext cx="7200000" cy="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How we ensured model integrity</a:t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500000" y="2530000"/>
            <a:ext cx="320040" cy="32004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960000" y="2510000"/>
            <a:ext cx="720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Baseline Model Performance</a:t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960000" y="2700000"/>
            <a:ext cx="7200000" cy="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Initial three-model comparison results</a:t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500000" y="2890000"/>
            <a:ext cx="320040" cy="32004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960000" y="2870000"/>
            <a:ext cx="720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Full Model Comparison</a:t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960000" y="3060000"/>
            <a:ext cx="7200000" cy="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5 models + baseline evaluated on val and test</a:t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500000" y="3250000"/>
            <a:ext cx="320040" cy="32004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960000" y="3230000"/>
            <a:ext cx="720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Feature Importance &amp; SHAP</a:t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960000" y="3420000"/>
            <a:ext cx="7200000" cy="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Interpretability analysis of top predictors</a:t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500000" y="3610000"/>
            <a:ext cx="320040" cy="32004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960000" y="3590000"/>
            <a:ext cx="720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Ensemble Learning</a:t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960000" y="3780000"/>
            <a:ext cx="7200000" cy="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Voting, weighting, and stacking strategies</a:t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500000" y="3970000"/>
            <a:ext cx="320040" cy="32004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960000" y="3950000"/>
            <a:ext cx="720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Model Deployment</a:t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960000" y="4140000"/>
            <a:ext cx="7200000" cy="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Registry, batch scoring, and monitoring pipeline</a:t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500000" y="4330000"/>
            <a:ext cx="320040" cy="32004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960000" y="4310000"/>
            <a:ext cx="720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Conclusions &amp; Future Work</a:t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960000" y="4500000"/>
            <a:ext cx="7200000" cy="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Key findings and next directions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 &amp; Research Objectives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65760" y="822960"/>
            <a:ext cx="3931920" cy="356616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9601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"/>
          <p:cNvSpPr/>
          <p:nvPr/>
        </p:nvSpPr>
        <p:spPr>
          <a:xfrm>
            <a:off x="1005840" y="9601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48640" y="1554480"/>
            <a:ext cx="356616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F1 race outcomes depend on driver skill, constructor performance, track characteristics, and race conditions.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Finishing in the top 10 determines whether a driver earns championship points, a critical threshold for competitive success.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Can machine learning predict top-10 finishes using only pre-race information?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663440" y="822960"/>
            <a:ext cx="4114800" cy="356616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6320" y="9601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5"/>
          <p:cNvSpPr/>
          <p:nvPr/>
        </p:nvSpPr>
        <p:spPr>
          <a:xfrm>
            <a:off x="5303520" y="9601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Research Objectives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846320" y="1554480"/>
            <a:ext cx="374904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Build and evaluate ML models for top-10 finish prediction using historical F1 data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Examine how qualifying position, constructor, driver history, and circuit affect outcomes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Explore circuit-level variation in race unpredictability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Compare models for accuracy, interpretability, and decision-support value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Northwestern University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9 reviewed studies informing our approach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8412480" cy="384048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Text 6"/>
          <p:cNvSpPr/>
          <p:nvPr/>
        </p:nvSpPr>
        <p:spPr>
          <a:xfrm>
            <a:off x="457200" y="12344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Rockerbie &amp; Easton (2022)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834640" y="1234440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Driver–constructor interaction explains large portion of race performance; both factors must be modeled jointly.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5760" y="1655064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Text 9"/>
          <p:cNvSpPr/>
          <p:nvPr/>
        </p:nvSpPr>
        <p:spPr>
          <a:xfrm>
            <a:off x="457200" y="165506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Kesteren &amp; Bergkamp (2023)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834640" y="1655064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analysis shows ~88% of F1 result variance from constructor; driver skill accounts for minority.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65760" y="2075688"/>
            <a:ext cx="8412480" cy="384048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5" name="Text 12"/>
          <p:cNvSpPr/>
          <p:nvPr/>
        </p:nvSpPr>
        <p:spPr>
          <a:xfrm>
            <a:off x="457200" y="207568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Bansal (2025)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834640" y="2075688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achieves R² = 0.999 on championship points; grid position contributes 75.8% of model performance.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65760" y="2496312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8" name="Text 15"/>
          <p:cNvSpPr/>
          <p:nvPr/>
        </p:nvSpPr>
        <p:spPr>
          <a:xfrm>
            <a:off x="457200" y="249631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Patil et al. (2023)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2834640" y="2496312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 frequency and tyre strategy significantly affect championship points; PCA captures 70% variance in 4 components.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65760" y="2916936"/>
            <a:ext cx="8412480" cy="384048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1" name="Text 18"/>
          <p:cNvSpPr/>
          <p:nvPr/>
        </p:nvSpPr>
        <p:spPr>
          <a:xfrm>
            <a:off x="457200" y="291693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Urdhwareshe (2025)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2834640" y="2916936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TabNet achieves R² = 0.75 on driver positions using only pre-race features; interpretability via attention masks.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65760" y="3337560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4" name="Text 21"/>
          <p:cNvSpPr/>
          <p:nvPr/>
        </p:nvSpPr>
        <p:spPr>
          <a:xfrm>
            <a:off x="457200" y="33375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Jafri (2024)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2834640" y="3337560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LSTM-based models capture temporal momentum in lap times; composite loss functions improve positional accuracy.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65760" y="3758184"/>
            <a:ext cx="8412480" cy="384048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7" name="Text 24"/>
          <p:cNvSpPr/>
          <p:nvPr/>
        </p:nvSpPr>
        <p:spPr>
          <a:xfrm>
            <a:off x="457200" y="375818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 et al. (2021)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2834640" y="3758184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NeuralAC models cooperation/competition effects; interaction features outperform individual-only approaches.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65760" y="4178808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0" name="Text 27"/>
          <p:cNvSpPr/>
          <p:nvPr/>
        </p:nvSpPr>
        <p:spPr>
          <a:xfrm>
            <a:off x="457200" y="417880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Zheng (2022)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2834640" y="4178808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internal performance + external context (Elo, momentum) improves sports outcome prediction.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57200" y="4572000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annotated bibliography with 9 papers available in the written report.</a:t>
            </a:r>
            <a:endParaRPr lang="en-US" sz="800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&amp; Integration Strategy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365760" y="777240"/>
            <a:ext cx="1920240" cy="9144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365760" y="77724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1950–2024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365760" y="13258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 Span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2514600" y="777240"/>
            <a:ext cx="1920240" cy="9144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2514600" y="77724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26,000+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2514600" y="13258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Driver–Race Records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663440" y="777240"/>
            <a:ext cx="1920240" cy="914400"/>
          </a:xfrm>
          <a:prstGeom prst="rect">
            <a:avLst/>
          </a:prstGeom>
          <a:solidFill>
            <a:srgbClr val="836EA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663440" y="77724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663440" y="13258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Tables Merged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6812280" y="777240"/>
            <a:ext cx="1920240" cy="914400"/>
          </a:xfrm>
          <a:prstGeom prst="rect">
            <a:avLst/>
          </a:prstGeom>
          <a:solidFill>
            <a:srgbClr val="836EA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6812280" y="77724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80+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6812280" y="13258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Features Created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20116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6"/>
          <p:cNvSpPr/>
          <p:nvPr/>
        </p:nvSpPr>
        <p:spPr>
          <a:xfrm>
            <a:off x="960120" y="20116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Tables Integrated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548640" y="2514600"/>
            <a:ext cx="1920240" cy="320040"/>
          </a:xfrm>
          <a:prstGeom prst="rect">
            <a:avLst/>
          </a:prstGeom>
          <a:solidFill>
            <a:srgbClr val="E8E0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548640" y="25146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2651760" y="2514600"/>
            <a:ext cx="1920240" cy="320040"/>
          </a:xfrm>
          <a:prstGeom prst="rect">
            <a:avLst/>
          </a:prstGeom>
          <a:solidFill>
            <a:srgbClr val="E8E0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2651760" y="25146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Races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754880" y="2514600"/>
            <a:ext cx="1920240" cy="320040"/>
          </a:xfrm>
          <a:prstGeom prst="rect">
            <a:avLst/>
          </a:prstGeom>
          <a:solidFill>
            <a:srgbClr val="E8E0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754880" y="25146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Drivers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6858000" y="2514600"/>
            <a:ext cx="1920240" cy="320040"/>
          </a:xfrm>
          <a:prstGeom prst="rect">
            <a:avLst/>
          </a:prstGeom>
          <a:solidFill>
            <a:srgbClr val="E8E0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858000" y="25146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Constructors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548640" y="2926080"/>
            <a:ext cx="1920240" cy="320040"/>
          </a:xfrm>
          <a:prstGeom prst="rect">
            <a:avLst/>
          </a:prstGeom>
          <a:solidFill>
            <a:srgbClr val="E8E0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548640" y="29260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Circuits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2651760" y="2926080"/>
            <a:ext cx="1920240" cy="320040"/>
          </a:xfrm>
          <a:prstGeom prst="rect">
            <a:avLst/>
          </a:prstGeom>
          <a:solidFill>
            <a:srgbClr val="E8E0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2651760" y="29260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Qualifying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754880" y="2926080"/>
            <a:ext cx="1920240" cy="320040"/>
          </a:xfrm>
          <a:prstGeom prst="rect">
            <a:avLst/>
          </a:prstGeom>
          <a:solidFill>
            <a:srgbClr val="E8E0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754880" y="29260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6858000" y="2926080"/>
            <a:ext cx="1920240" cy="320040"/>
          </a:xfrm>
          <a:prstGeom prst="rect">
            <a:avLst/>
          </a:prstGeom>
          <a:solidFill>
            <a:srgbClr val="E8E0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6858000" y="29260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Pit Stops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548640" y="3337560"/>
            <a:ext cx="1920240" cy="320040"/>
          </a:xfrm>
          <a:prstGeom prst="rect">
            <a:avLst/>
          </a:prstGeom>
          <a:solidFill>
            <a:srgbClr val="E8E0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48640" y="333756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Lap Times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2651760" y="3337560"/>
            <a:ext cx="1920240" cy="320040"/>
          </a:xfrm>
          <a:prstGeom prst="rect">
            <a:avLst/>
          </a:prstGeom>
          <a:solidFill>
            <a:srgbClr val="E8E0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2651760" y="333756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Driver Standings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4754880" y="3337560"/>
            <a:ext cx="1920240" cy="320040"/>
          </a:xfrm>
          <a:prstGeom prst="rect">
            <a:avLst/>
          </a:prstGeom>
          <a:solidFill>
            <a:srgbClr val="E8E0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754880" y="333756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Constructor Standings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365760" y="3794760"/>
            <a:ext cx="8412480" cy="64008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48640" y="37947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Target Variable:  </a:t>
            </a:r>
            <a:r>
              <a:rPr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top10_finish — binary indicator (1 = driver finished in top 10, 0 = otherwise). Derived from positionOrder ≤ 10.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EDA Insights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365760" y="777240"/>
            <a:ext cx="4114800" cy="169164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365760" y="777240"/>
            <a:ext cx="54864" cy="16916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4360" y="9144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7"/>
          <p:cNvSpPr/>
          <p:nvPr/>
        </p:nvSpPr>
        <p:spPr>
          <a:xfrm>
            <a:off x="1005840" y="886968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Grid Position Dominance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594360" y="1325880"/>
            <a:ext cx="365760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Starting position is the strongest predictor of top-10 finishes. Pole position converts to top-10 at &gt;95% rate; grid 15+ drops below 30%.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4754880" y="777240"/>
            <a:ext cx="4114800" cy="169164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754880" y="777240"/>
            <a:ext cx="54864" cy="16916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83480" y="9144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7"/>
          <p:cNvSpPr/>
          <p:nvPr/>
        </p:nvSpPr>
        <p:spPr>
          <a:xfrm>
            <a:off x="5394960" y="886968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Constructor Effect: 88%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983480" y="1325880"/>
            <a:ext cx="365760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Van Kesteren &amp; Bergkamp (2023) found ~88% of F1 result variance is attributable to the constructor, not the driver.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365760" y="2651760"/>
            <a:ext cx="4114800" cy="169164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365760" y="2651760"/>
            <a:ext cx="54864" cy="16916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360" y="27889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/>
          <p:nvPr/>
        </p:nvSpPr>
        <p:spPr>
          <a:xfrm>
            <a:off x="1005840" y="2761488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DNF Rate Decline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94360" y="3200400"/>
            <a:ext cx="365760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Did Not Finish rates have dropped from ~40% in the 1950s to under 10% in recent seasons, reflecting reliability improvements.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754880" y="2651760"/>
            <a:ext cx="4114800" cy="169164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4754880" y="2651760"/>
            <a:ext cx="54864" cy="16916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83480" y="27889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/>
          <p:nvPr/>
        </p:nvSpPr>
        <p:spPr>
          <a:xfrm>
            <a:off x="5394960" y="2761488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Circuit Variation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983480" y="3200400"/>
            <a:ext cx="365760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Some circuits show much higher position volatility, suggesting more unpredictable races — important for modeling uncertainty.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Engineering: 35+ Features Across 12 Categories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320040" y="761610"/>
            <a:ext cx="2011680" cy="118872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320040" y="761610"/>
            <a:ext cx="2011680" cy="4572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11480" y="85305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Temporal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411480" y="126453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Driver age, race month,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season stage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2514600" y="761610"/>
            <a:ext cx="2011680" cy="118872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2514600" y="761610"/>
            <a:ext cx="2011680" cy="4572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2606040" y="85305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2606040" y="126453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Rolling 5-race top-10 rate,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DNF rate, avg position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4709160" y="761610"/>
            <a:ext cx="2011680" cy="118872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4709160" y="761610"/>
            <a:ext cx="2011680" cy="4572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4800600" y="85305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Constructor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4800600" y="126453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Team rolling stats,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season top-10 rate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6903720" y="761610"/>
            <a:ext cx="2011680" cy="118872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6903720" y="761610"/>
            <a:ext cx="2011680" cy="4572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6995160" y="85305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Circuit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6995160" y="126453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DNF rate, volatility,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driver-circuit history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320040" y="2133210"/>
            <a:ext cx="2011680" cy="118872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320040" y="2133210"/>
            <a:ext cx="2011680" cy="4572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411480" y="222465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Driver–Team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Interaction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411480" y="263613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Races together,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joint success rate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2514600" y="2133210"/>
            <a:ext cx="2011680" cy="118872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2514600" y="2133210"/>
            <a:ext cx="2011680" cy="4572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2606040" y="222465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Qualifying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2606040" y="263613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Grid position, front-row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start, top-5/top-10 flags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4709160" y="2133210"/>
            <a:ext cx="2011680" cy="118872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709160" y="2133210"/>
            <a:ext cx="2011680" cy="4572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800600" y="222465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Competitive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Context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800600" y="263613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Field size,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grid percentile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6903720" y="2133210"/>
            <a:ext cx="2011680" cy="118872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6903720" y="2133210"/>
            <a:ext cx="2011680" cy="4572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6995160" y="222465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Momentum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6995160" y="263613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Top-10 streak, points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last 3, position trend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320040" y="3465735"/>
            <a:ext cx="2011680" cy="118872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320040" y="3465735"/>
            <a:ext cx="2011680" cy="4572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411480" y="3557175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Pit Stop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411480" y="3968655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Avg stops per race,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constructor pit efficiency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2514600" y="3465735"/>
            <a:ext cx="2011680" cy="118872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2514600" y="3465735"/>
            <a:ext cx="2011680" cy="4572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2606040" y="3557175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Championship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2606040" y="3968655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Standings position,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points gap to leader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4709160" y="3465735"/>
            <a:ext cx="2011680" cy="118872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4709160" y="3465735"/>
            <a:ext cx="2011680" cy="4572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800600" y="3557175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Era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4800600" y="3968655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Regulation era encoding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(1950s to ground effect)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6903720" y="3465735"/>
            <a:ext cx="2011680" cy="118872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6903720" y="3465735"/>
            <a:ext cx="2011680" cy="4572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6995160" y="3557175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Categorical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6995160" y="3968655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Label-encoded driver,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constructor, circuit, country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Leakage: The Issue &amp; The Fix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8229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9"/>
          <p:cNvSpPr/>
          <p:nvPr/>
        </p:nvSpPr>
        <p:spPr>
          <a:xfrm>
            <a:off x="960120" y="8229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143C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DC143C"/>
                </a:solidFill>
                <a:latin typeface="Calibri"/>
                <a:ea typeface="Calibri"/>
                <a:cs typeface="Calibri"/>
                <a:sym typeface="Calibri"/>
              </a:rPr>
              <a:t>What Went Wrong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457200" y="1280160"/>
            <a:ext cx="3931920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Initial models scored 1.000 ROC AUC — a clear sign of data leakage.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Post-race features were included as model inputs: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positionOrder — directly defines the target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points — only awarded to top-10 finishers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milliseconds, laps — post-race outcome data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Championship standings included current race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6320" y="8229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9"/>
          <p:cNvSpPr/>
          <p:nvPr/>
        </p:nvSpPr>
        <p:spPr>
          <a:xfrm>
            <a:off x="5257800" y="8229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8B947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58B947"/>
                </a:solidFill>
                <a:latin typeface="Calibri"/>
                <a:ea typeface="Calibri"/>
                <a:cs typeface="Calibri"/>
                <a:sym typeface="Calibri"/>
              </a:rPr>
              <a:t>How We Fixed It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4846320" y="1280160"/>
            <a:ext cx="3931920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Strict Leakage Guard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Explicit blocklist of 12+ post-race columns removed from feature matrix.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Temporal shift(1) on All Rolling Features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Every expanding/rolling window excludes the current race.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Championship Standings Fix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Shifted to previous round's standings so model only sees pre-race info.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Leakage Audit Cell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Automated check flags any feature with |correlation| &gt; 0.85 to the target.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 Model Performance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365760" y="73152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Temporal 3-way split:  Train (&lt; 2018)  |  Validation (2018–2021)  |  Test Holdout (2022–2024)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457200" y="1234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Validation Set (2018–2021)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1" name="Google Shape;241;p10"/>
          <p:cNvGraphicFramePr/>
          <p:nvPr/>
        </p:nvGraphicFramePr>
        <p:xfrm>
          <a:off x="457200" y="1600200"/>
          <a:ext cx="3840500" cy="975400"/>
        </p:xfrm>
        <a:graphic>
          <a:graphicData uri="http://schemas.openxmlformats.org/drawingml/2006/table">
            <a:tbl>
              <a:tblPr>
                <a:noFill/>
                <a:tableStyleId>{06BD4940-D55E-4A24-909B-A4CB52139882}</a:tableStyleId>
              </a:tblPr>
              <a:tblGrid>
                <a:gridCol w="155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ROC AUC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 AUC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E2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Logistic Regression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0.822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0.794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0.727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0.840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0.802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0.781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Gradient Boosting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0.827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0.801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0.755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2" name="Google Shape;242;p10"/>
          <p:cNvSpPr/>
          <p:nvPr/>
        </p:nvSpPr>
        <p:spPr>
          <a:xfrm>
            <a:off x="4846320" y="1234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Test Holdout (2022–2024)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3" name="Google Shape;243;p10"/>
          <p:cNvGraphicFramePr/>
          <p:nvPr/>
        </p:nvGraphicFramePr>
        <p:xfrm>
          <a:off x="4846320" y="1600200"/>
          <a:ext cx="3840500" cy="975400"/>
        </p:xfrm>
        <a:graphic>
          <a:graphicData uri="http://schemas.openxmlformats.org/drawingml/2006/table">
            <a:tbl>
              <a:tblPr>
                <a:noFill/>
                <a:tableStyleId>{06BD4940-D55E-4A24-909B-A4CB52139882}</a:tableStyleId>
              </a:tblPr>
              <a:tblGrid>
                <a:gridCol w="155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ROC AUC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 AUC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E2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Logistic Regression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0.857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0.849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0.775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0.869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0.854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0.808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Gradient Boosting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0.858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0.833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0.796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4" name="Google Shape;244;p10"/>
          <p:cNvSpPr/>
          <p:nvPr/>
        </p:nvSpPr>
        <p:spPr>
          <a:xfrm>
            <a:off x="365760" y="3246120"/>
            <a:ext cx="8412480" cy="118872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548640" y="3291840"/>
            <a:ext cx="80467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Random Forest achieves best overall performance (0.869 ROC AUC on holdout)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Test scores slightly higher than validation — no overfitting detected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All models use only pre-race features after leakage fix — results are realistic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Implementation Strategy &amp; Pipeline</a:t>
            </a:r>
            <a:endParaRPr/>
          </a:p>
        </p:txBody>
      </p:sp>
      <p:grpSp>
        <p:nvGrpSpPr>
          <p:cNvPr id="255" name="Google Shape;255;p11"/>
          <p:cNvGrpSpPr/>
          <p:nvPr/>
        </p:nvGrpSpPr>
        <p:grpSpPr>
          <a:xfrm>
            <a:off x="1005840" y="800000"/>
            <a:ext cx="7132320" cy="3083040"/>
            <a:chOff x="833344" y="800000"/>
            <a:chExt cx="7132320" cy="3083040"/>
          </a:xfrm>
        </p:grpSpPr>
        <p:sp>
          <p:nvSpPr>
            <p:cNvPr id="256" name="Google Shape;256;p11"/>
            <p:cNvSpPr/>
            <p:nvPr/>
          </p:nvSpPr>
          <p:spPr>
            <a:xfrm>
              <a:off x="1199104" y="800000"/>
              <a:ext cx="548640" cy="548640"/>
            </a:xfrm>
            <a:prstGeom prst="ellipse">
              <a:avLst/>
            </a:prstGeom>
            <a:solidFill>
              <a:srgbClr val="4E2A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257" name="Google Shape;257;p11"/>
            <p:cNvSpPr/>
            <p:nvPr/>
          </p:nvSpPr>
          <p:spPr>
            <a:xfrm>
              <a:off x="833344" y="14086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4E2A84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4E2A84"/>
                  </a:solidFill>
                  <a:latin typeface="Calibri"/>
                  <a:ea typeface="Calibri"/>
                  <a:cs typeface="Calibri"/>
                  <a:sym typeface="Calibri"/>
                </a:rPr>
                <a:t>Collection</a:t>
              </a:r>
              <a:endParaRPr/>
            </a:p>
          </p:txBody>
        </p:sp>
        <p:sp>
          <p:nvSpPr>
            <p:cNvPr id="258" name="Google Shape;258;p11"/>
            <p:cNvSpPr/>
            <p:nvPr/>
          </p:nvSpPr>
          <p:spPr>
            <a:xfrm>
              <a:off x="833344" y="18758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Kaggle F1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11 CSV tables</a:t>
              </a:r>
              <a:endParaRPr/>
            </a:p>
          </p:txBody>
        </p:sp>
        <p:sp>
          <p:nvSpPr>
            <p:cNvPr id="259" name="Google Shape;259;p11"/>
            <p:cNvSpPr/>
            <p:nvPr/>
          </p:nvSpPr>
          <p:spPr>
            <a:xfrm>
              <a:off x="2662144" y="800000"/>
              <a:ext cx="548640" cy="548640"/>
            </a:xfrm>
            <a:prstGeom prst="ellipse">
              <a:avLst/>
            </a:prstGeom>
            <a:solidFill>
              <a:srgbClr val="4E2A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60" name="Google Shape;260;p11"/>
            <p:cNvSpPr/>
            <p:nvPr/>
          </p:nvSpPr>
          <p:spPr>
            <a:xfrm>
              <a:off x="2296384" y="14086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4E2A84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4E2A84"/>
                  </a:solidFill>
                  <a:latin typeface="Calibri"/>
                  <a:ea typeface="Calibri"/>
                  <a:cs typeface="Calibri"/>
                  <a:sym typeface="Calibri"/>
                </a:rPr>
                <a:t>Integration</a:t>
              </a:r>
              <a:endParaRPr/>
            </a:p>
          </p:txBody>
        </p:sp>
        <p:sp>
          <p:nvSpPr>
            <p:cNvPr id="261" name="Google Shape;261;p11"/>
            <p:cNvSpPr/>
            <p:nvPr/>
          </p:nvSpPr>
          <p:spPr>
            <a:xfrm>
              <a:off x="2296384" y="18758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Merge into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driver–race rows</a:t>
              </a:r>
              <a:endParaRPr/>
            </a:p>
          </p:txBody>
        </p:sp>
        <p:sp>
          <p:nvSpPr>
            <p:cNvPr id="262" name="Google Shape;262;p11"/>
            <p:cNvSpPr/>
            <p:nvPr/>
          </p:nvSpPr>
          <p:spPr>
            <a:xfrm>
              <a:off x="4125184" y="800000"/>
              <a:ext cx="548640" cy="548640"/>
            </a:xfrm>
            <a:prstGeom prst="ellipse">
              <a:avLst/>
            </a:prstGeom>
            <a:solidFill>
              <a:srgbClr val="4E2A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263" name="Google Shape;263;p11"/>
            <p:cNvSpPr/>
            <p:nvPr/>
          </p:nvSpPr>
          <p:spPr>
            <a:xfrm>
              <a:off x="3759424" y="14086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4E2A84"/>
                  </a:solidFill>
                  <a:latin typeface="Calibri"/>
                  <a:ea typeface="Calibri"/>
                  <a:cs typeface="Calibri"/>
                  <a:sym typeface="Calibri"/>
                </a:rPr>
                <a:t>EDA</a:t>
              </a:r>
              <a:endParaRPr/>
            </a:p>
          </p:txBody>
        </p:sp>
        <p:sp>
          <p:nvSpPr>
            <p:cNvPr id="264" name="Google Shape;264;p11"/>
            <p:cNvSpPr/>
            <p:nvPr/>
          </p:nvSpPr>
          <p:spPr>
            <a:xfrm>
              <a:off x="3759424" y="18758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Patterns,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missing data</a:t>
              </a:r>
              <a:endParaRPr/>
            </a:p>
          </p:txBody>
        </p:sp>
        <p:sp>
          <p:nvSpPr>
            <p:cNvPr id="265" name="Google Shape;265;p11"/>
            <p:cNvSpPr/>
            <p:nvPr/>
          </p:nvSpPr>
          <p:spPr>
            <a:xfrm>
              <a:off x="5588224" y="800000"/>
              <a:ext cx="548640" cy="548640"/>
            </a:xfrm>
            <a:prstGeom prst="ellipse">
              <a:avLst/>
            </a:prstGeom>
            <a:solidFill>
              <a:srgbClr val="4E2A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266" name="Google Shape;266;p11"/>
            <p:cNvSpPr/>
            <p:nvPr/>
          </p:nvSpPr>
          <p:spPr>
            <a:xfrm>
              <a:off x="5222464" y="14086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4E2A84"/>
                  </a:solidFill>
                  <a:latin typeface="Calibri"/>
                  <a:ea typeface="Calibri"/>
                  <a:cs typeface="Calibri"/>
                  <a:sym typeface="Calibri"/>
                </a:rPr>
                <a:t>Feature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4E2A84"/>
                  </a:solidFill>
                  <a:latin typeface="Calibri"/>
                  <a:ea typeface="Calibri"/>
                  <a:cs typeface="Calibri"/>
                  <a:sym typeface="Calibri"/>
                </a:rPr>
                <a:t>Engineering</a:t>
              </a:r>
              <a:endParaRPr/>
            </a:p>
          </p:txBody>
        </p:sp>
        <p:sp>
          <p:nvSpPr>
            <p:cNvPr id="267" name="Google Shape;267;p11"/>
            <p:cNvSpPr/>
            <p:nvPr/>
          </p:nvSpPr>
          <p:spPr>
            <a:xfrm>
              <a:off x="5222464" y="18758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35+ features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shift(1) safe</a:t>
              </a:r>
              <a:endParaRPr/>
            </a:p>
          </p:txBody>
        </p:sp>
        <p:sp>
          <p:nvSpPr>
            <p:cNvPr id="268" name="Google Shape;268;p11"/>
            <p:cNvSpPr/>
            <p:nvPr/>
          </p:nvSpPr>
          <p:spPr>
            <a:xfrm>
              <a:off x="7051264" y="800000"/>
              <a:ext cx="548640" cy="548640"/>
            </a:xfrm>
            <a:prstGeom prst="ellipse">
              <a:avLst/>
            </a:prstGeom>
            <a:solidFill>
              <a:srgbClr val="4E2A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269" name="Google Shape;269;p11"/>
            <p:cNvSpPr/>
            <p:nvPr/>
          </p:nvSpPr>
          <p:spPr>
            <a:xfrm>
              <a:off x="6685504" y="14086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4E2A84"/>
                  </a:solidFill>
                  <a:latin typeface="Calibri"/>
                  <a:ea typeface="Calibri"/>
                  <a:cs typeface="Calibri"/>
                  <a:sym typeface="Calibri"/>
                </a:rPr>
                <a:t>Leakage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4E2A84"/>
                  </a:solidFill>
                  <a:latin typeface="Calibri"/>
                  <a:ea typeface="Calibri"/>
                  <a:cs typeface="Calibri"/>
                  <a:sym typeface="Calibri"/>
                </a:rPr>
                <a:t>Audit</a:t>
              </a:r>
              <a:endParaRPr/>
            </a:p>
          </p:txBody>
        </p:sp>
        <p:sp>
          <p:nvSpPr>
            <p:cNvPr id="270" name="Google Shape;270;p11"/>
            <p:cNvSpPr/>
            <p:nvPr/>
          </p:nvSpPr>
          <p:spPr>
            <a:xfrm>
              <a:off x="6685504" y="18758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Block post-race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columns</a:t>
              </a:r>
              <a:endParaRPr/>
            </a:p>
          </p:txBody>
        </p:sp>
        <p:sp>
          <p:nvSpPr>
            <p:cNvPr id="271" name="Google Shape;271;p11"/>
            <p:cNvSpPr/>
            <p:nvPr/>
          </p:nvSpPr>
          <p:spPr>
            <a:xfrm>
              <a:off x="1199104" y="2350000"/>
              <a:ext cx="548640" cy="548640"/>
            </a:xfrm>
            <a:prstGeom prst="ellipse">
              <a:avLst/>
            </a:prstGeom>
            <a:solidFill>
              <a:srgbClr val="4E2A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272" name="Google Shape;272;p11"/>
            <p:cNvSpPr/>
            <p:nvPr/>
          </p:nvSpPr>
          <p:spPr>
            <a:xfrm>
              <a:off x="833344" y="29586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4E2A84"/>
                  </a:solidFill>
                  <a:latin typeface="Calibri"/>
                  <a:ea typeface="Calibri"/>
                  <a:cs typeface="Calibri"/>
                  <a:sym typeface="Calibri"/>
                </a:rPr>
                <a:t>Baseline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4E2A84"/>
                  </a:solidFill>
                  <a:latin typeface="Calibri"/>
                  <a:ea typeface="Calibri"/>
                  <a:cs typeface="Calibri"/>
                  <a:sym typeface="Calibri"/>
                </a:rPr>
                <a:t>Models</a:t>
              </a:r>
              <a:endParaRPr/>
            </a:p>
          </p:txBody>
        </p:sp>
        <p:sp>
          <p:nvSpPr>
            <p:cNvPr id="273" name="Google Shape;273;p11"/>
            <p:cNvSpPr/>
            <p:nvPr/>
          </p:nvSpPr>
          <p:spPr>
            <a:xfrm>
              <a:off x="833344" y="34258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LR, RF, GB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3-way split</a:t>
              </a:r>
              <a:endParaRPr/>
            </a:p>
          </p:txBody>
        </p:sp>
        <p:sp>
          <p:nvSpPr>
            <p:cNvPr id="274" name="Google Shape;274;p11"/>
            <p:cNvSpPr/>
            <p:nvPr/>
          </p:nvSpPr>
          <p:spPr>
            <a:xfrm>
              <a:off x="2662144" y="2350000"/>
              <a:ext cx="548640" cy="548640"/>
            </a:xfrm>
            <a:prstGeom prst="ellipse">
              <a:avLst/>
            </a:prstGeom>
            <a:solidFill>
              <a:srgbClr val="4E2A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  <p:sp>
          <p:nvSpPr>
            <p:cNvPr id="275" name="Google Shape;275;p11"/>
            <p:cNvSpPr/>
            <p:nvPr/>
          </p:nvSpPr>
          <p:spPr>
            <a:xfrm>
              <a:off x="2296384" y="29586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4E2A84"/>
                  </a:solidFill>
                  <a:latin typeface="Calibri"/>
                  <a:ea typeface="Calibri"/>
                  <a:cs typeface="Calibri"/>
                  <a:sym typeface="Calibri"/>
                </a:rPr>
                <a:t>Model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4E2A84"/>
                  </a:solidFill>
                  <a:latin typeface="Calibri"/>
                  <a:ea typeface="Calibri"/>
                  <a:cs typeface="Calibri"/>
                  <a:sym typeface="Calibri"/>
                </a:rPr>
                <a:t>Selection</a:t>
              </a:r>
              <a:endParaRPr/>
            </a:p>
          </p:txBody>
        </p:sp>
        <p:sp>
          <p:nvSpPr>
            <p:cNvPr id="276" name="Google Shape;276;p11"/>
            <p:cNvSpPr/>
            <p:nvPr/>
          </p:nvSpPr>
          <p:spPr>
            <a:xfrm>
              <a:off x="2296384" y="34258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MLP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hyperparameter search</a:t>
              </a:r>
              <a:endParaRPr/>
            </a:p>
          </p:txBody>
        </p:sp>
        <p:sp>
          <p:nvSpPr>
            <p:cNvPr id="277" name="Google Shape;277;p11"/>
            <p:cNvSpPr/>
            <p:nvPr/>
          </p:nvSpPr>
          <p:spPr>
            <a:xfrm>
              <a:off x="4125184" y="2350000"/>
              <a:ext cx="548640" cy="548640"/>
            </a:xfrm>
            <a:prstGeom prst="ellipse">
              <a:avLst/>
            </a:prstGeom>
            <a:solidFill>
              <a:srgbClr val="4E2A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278" name="Google Shape;278;p11"/>
            <p:cNvSpPr/>
            <p:nvPr/>
          </p:nvSpPr>
          <p:spPr>
            <a:xfrm>
              <a:off x="3759424" y="29586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4E2A84"/>
                  </a:solidFill>
                  <a:latin typeface="Calibri"/>
                  <a:ea typeface="Calibri"/>
                  <a:cs typeface="Calibri"/>
                  <a:sym typeface="Calibri"/>
                </a:rPr>
                <a:t>Ensemble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4E2A84"/>
                  </a:solidFill>
                  <a:latin typeface="Calibri"/>
                  <a:ea typeface="Calibri"/>
                  <a:cs typeface="Calibri"/>
                  <a:sym typeface="Calibri"/>
                </a:rPr>
                <a:t>Learning</a:t>
              </a:r>
              <a:endParaRPr/>
            </a:p>
          </p:txBody>
        </p:sp>
        <p:sp>
          <p:nvSpPr>
            <p:cNvPr id="279" name="Google Shape;279;p11"/>
            <p:cNvSpPr/>
            <p:nvPr/>
          </p:nvSpPr>
          <p:spPr>
            <a:xfrm>
              <a:off x="3759424" y="34258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Voting, stacking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weighted blend</a:t>
              </a:r>
              <a:endParaRPr/>
            </a:p>
          </p:txBody>
        </p:sp>
        <p:sp>
          <p:nvSpPr>
            <p:cNvPr id="280" name="Google Shape;280;p11"/>
            <p:cNvSpPr/>
            <p:nvPr/>
          </p:nvSpPr>
          <p:spPr>
            <a:xfrm>
              <a:off x="5588224" y="2350000"/>
              <a:ext cx="548640" cy="548640"/>
            </a:xfrm>
            <a:prstGeom prst="ellipse">
              <a:avLst/>
            </a:prstGeom>
            <a:solidFill>
              <a:srgbClr val="4E2A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  <p:sp>
          <p:nvSpPr>
            <p:cNvPr id="281" name="Google Shape;281;p11"/>
            <p:cNvSpPr/>
            <p:nvPr/>
          </p:nvSpPr>
          <p:spPr>
            <a:xfrm>
              <a:off x="5222464" y="29586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4E2A84"/>
                  </a:solidFill>
                  <a:latin typeface="Calibri"/>
                  <a:ea typeface="Calibri"/>
                  <a:cs typeface="Calibri"/>
                  <a:sym typeface="Calibri"/>
                </a:rPr>
                <a:t>SHAP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4E2A84"/>
                  </a:solidFill>
                  <a:latin typeface="Calibri"/>
                  <a:ea typeface="Calibri"/>
                  <a:cs typeface="Calibri"/>
                  <a:sym typeface="Calibri"/>
                </a:rPr>
                <a:t>Analysis</a:t>
              </a:r>
              <a:endParaRPr/>
            </a:p>
          </p:txBody>
        </p:sp>
        <p:sp>
          <p:nvSpPr>
            <p:cNvPr id="282" name="Google Shape;282;p11"/>
            <p:cNvSpPr/>
            <p:nvPr/>
          </p:nvSpPr>
          <p:spPr>
            <a:xfrm>
              <a:off x="5222464" y="34258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Feature importance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interpretability</a:t>
              </a:r>
              <a:endParaRPr/>
            </a:p>
          </p:txBody>
        </p:sp>
        <p:sp>
          <p:nvSpPr>
            <p:cNvPr id="283" name="Google Shape;283;p11"/>
            <p:cNvSpPr/>
            <p:nvPr/>
          </p:nvSpPr>
          <p:spPr>
            <a:xfrm>
              <a:off x="7051264" y="2350000"/>
              <a:ext cx="548640" cy="548640"/>
            </a:xfrm>
            <a:prstGeom prst="ellipse">
              <a:avLst/>
            </a:prstGeom>
            <a:solidFill>
              <a:srgbClr val="4E2A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284" name="Google Shape;284;p11"/>
            <p:cNvSpPr/>
            <p:nvPr/>
          </p:nvSpPr>
          <p:spPr>
            <a:xfrm>
              <a:off x="6685504" y="29586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4E2A84"/>
                  </a:solidFill>
                  <a:latin typeface="Calibri"/>
                  <a:ea typeface="Calibri"/>
                  <a:cs typeface="Calibri"/>
                  <a:sym typeface="Calibri"/>
                </a:rPr>
                <a:t>Deployment</a:t>
              </a:r>
              <a:endParaRPr/>
            </a:p>
          </p:txBody>
        </p:sp>
        <p:sp>
          <p:nvSpPr>
            <p:cNvPr id="285" name="Google Shape;285;p11"/>
            <p:cNvSpPr/>
            <p:nvPr/>
          </p:nvSpPr>
          <p:spPr>
            <a:xfrm>
              <a:off x="6685504" y="34258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Registry, batch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monitoring</a:t>
              </a:r>
              <a:endParaRPr/>
            </a:p>
          </p:txBody>
        </p:sp>
      </p:grpSp>
      <p:sp>
        <p:nvSpPr>
          <p:cNvPr id="286" name="Google Shape;286;p11"/>
          <p:cNvSpPr/>
          <p:nvPr/>
        </p:nvSpPr>
        <p:spPr>
          <a:xfrm>
            <a:off x="91440" y="3960000"/>
            <a:ext cx="3657600" cy="2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Key Design Principles</a:t>
            </a: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206946" y="4250000"/>
            <a:ext cx="77724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Reproducible pipeline:</a:t>
            </a:r>
            <a:r>
              <a:rPr lang="en-US" sz="1000" b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EDA → feature engineering → modeling → evaluation → deployment</a:t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206946" y="4480000"/>
            <a:ext cx="77724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Validation-first mindset:</a:t>
            </a:r>
            <a:r>
              <a:rPr lang="en-US" sz="1000" b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Model choices based on validation; test set held out for final confirmation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 Model Comparison</a:t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Temporal 3-way split:  Train (&lt; 2018)  |  Validation (2018–2021)  |  Test Holdout (2022–2024)</a:t>
            </a:r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457200" y="10058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Validation Set (2018–2021)</a:t>
            </a:r>
            <a:endParaRPr/>
          </a:p>
        </p:txBody>
      </p:sp>
      <p:graphicFrame>
        <p:nvGraphicFramePr>
          <p:cNvPr id="300" name="Google Shape;300;p12"/>
          <p:cNvGraphicFramePr/>
          <p:nvPr/>
        </p:nvGraphicFramePr>
        <p:xfrm>
          <a:off x="365760" y="1280160"/>
          <a:ext cx="4023375" cy="1463100"/>
        </p:xfrm>
        <a:graphic>
          <a:graphicData uri="http://schemas.openxmlformats.org/drawingml/2006/table">
            <a:tbl>
              <a:tblPr firstRow="1" bandRow="1">
                <a:noFill/>
                <a:tableStyleId>{D66134A7-EA12-46B3-960F-E878C2FED40C}</a:tableStyleId>
              </a:tblPr>
              <a:tblGrid>
                <a:gridCol w="164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5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ROC AUC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 AUC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4E2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 (Grid LR)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0.800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0.745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0.748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Logistic Regression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0.821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0.793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0.758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MLP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0.830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0.803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0.770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Gradient Boosting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0.832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0.805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0.764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E8E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0.837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0.805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0.763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1" name="Google Shape;301;p12"/>
          <p:cNvSpPr/>
          <p:nvPr/>
        </p:nvSpPr>
        <p:spPr>
          <a:xfrm>
            <a:off x="4846320" y="10058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Test Holdout (2022–2024)</a:t>
            </a:r>
            <a:endParaRPr/>
          </a:p>
        </p:txBody>
      </p:sp>
      <p:graphicFrame>
        <p:nvGraphicFramePr>
          <p:cNvPr id="302" name="Google Shape;302;p12"/>
          <p:cNvGraphicFramePr/>
          <p:nvPr/>
        </p:nvGraphicFramePr>
        <p:xfrm>
          <a:off x="4754880" y="1280160"/>
          <a:ext cx="4023375" cy="1463100"/>
        </p:xfrm>
        <a:graphic>
          <a:graphicData uri="http://schemas.openxmlformats.org/drawingml/2006/table">
            <a:tbl>
              <a:tblPr firstRow="1" bandRow="1">
                <a:noFill/>
                <a:tableStyleId>{D66134A7-EA12-46B3-960F-E878C2FED40C}</a:tableStyleId>
              </a:tblPr>
              <a:tblGrid>
                <a:gridCol w="164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5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ROC AUC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 AUC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4E2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 (Grid LR)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0.790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0.724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0.757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Logistic Regression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0.856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0.848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0.786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MLP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0.856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0.835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0.793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0.863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0.832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0.790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Gradient Boosting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0.864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0.852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0.789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E8E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3" name="Google Shape;303;p12"/>
          <p:cNvSpPr/>
          <p:nvPr/>
        </p:nvSpPr>
        <p:spPr>
          <a:xfrm>
            <a:off x="548640" y="2800000"/>
            <a:ext cx="8046720" cy="1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Gradient Boosting achieves the best PR AUC on both validation (0.805) and test (0.852)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All five models significantly outperform the grid-only baseline, validating the feature engineering pipeline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Test scores are consistent with validation — no overfitting detected across the temporal split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Tree-based models (RF, GB) consistently outperform linear and neural network approaches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/>
          </a:p>
        </p:txBody>
      </p:sp>
      <p:sp>
        <p:nvSpPr>
          <p:cNvPr id="312" name="Google Shape;312;p13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Importance &amp; SHAP Analysis</a:t>
            </a:r>
            <a:endParaRPr/>
          </a:p>
        </p:txBody>
      </p:sp>
      <p:sp>
        <p:nvSpPr>
          <p:cNvPr id="313" name="Google Shape;313;p13"/>
          <p:cNvSpPr/>
          <p:nvPr/>
        </p:nvSpPr>
        <p:spPr>
          <a:xfrm>
            <a:off x="219777" y="778042"/>
            <a:ext cx="4143676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Top Predictive Features</a:t>
            </a:r>
            <a:endParaRPr/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Arial"/>
              <a:buChar char="•"/>
            </a:pPr>
            <a:r>
              <a:rPr lang="en-US" sz="1100" b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Grid position (starting position) — strongest single predictor</a:t>
            </a:r>
            <a:endParaRPr/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Arial"/>
              <a:buChar char="•"/>
            </a:pPr>
            <a:r>
              <a:rPr lang="en-US" sz="1100" b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Constructor rolling top-10 rate — team strength signal</a:t>
            </a:r>
            <a:endParaRPr/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Arial"/>
              <a:buChar char="•"/>
            </a:pPr>
            <a:r>
              <a:rPr lang="en-US" sz="1100" b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Driver 5-race rolling top-10 rate — recent form</a:t>
            </a:r>
            <a:endParaRPr/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Arial"/>
              <a:buChar char="•"/>
            </a:pPr>
            <a:r>
              <a:rPr lang="en-US" sz="1100" b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Grid percentile — relative field position</a:t>
            </a:r>
            <a:endParaRPr/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Arial"/>
              <a:buChar char="•"/>
            </a:pPr>
            <a:r>
              <a:rPr lang="en-US" sz="1100" b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Championship standing position — season context</a:t>
            </a:r>
            <a:endParaRPr/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Arial"/>
              <a:buChar char="•"/>
            </a:pPr>
            <a:r>
              <a:rPr lang="en-US" sz="1100" b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Driver–constructor joint success rate — team synergy</a:t>
            </a:r>
            <a:endParaRPr/>
          </a:p>
        </p:txBody>
      </p:sp>
      <p:sp>
        <p:nvSpPr>
          <p:cNvPr id="314" name="Google Shape;314;p13"/>
          <p:cNvSpPr/>
          <p:nvPr/>
        </p:nvSpPr>
        <p:spPr>
          <a:xfrm>
            <a:off x="4023360" y="778042"/>
            <a:ext cx="5342020" cy="1734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Key SHAP Insights</a:t>
            </a:r>
            <a:endParaRPr/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Arial"/>
              <a:buChar char="•"/>
            </a:pPr>
            <a:r>
              <a:rPr lang="en-US" sz="1100" b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Grid position has highest mean |SHAP value| — confirms domain knowledge</a:t>
            </a:r>
            <a:endParaRPr/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Arial"/>
              <a:buChar char="•"/>
            </a:pPr>
            <a:r>
              <a:rPr lang="en-US" sz="1100" b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Constructor features show strong positive SHAP for top teams (Mercedes, Red Bull)</a:t>
            </a:r>
            <a:endParaRPr/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Arial"/>
              <a:buChar char="•"/>
            </a:pPr>
            <a:r>
              <a:rPr lang="en-US" sz="1100" b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Driver momentum features (streaks, recent form) show asymmetric effects</a:t>
            </a:r>
            <a:endParaRPr/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Arial"/>
              <a:buChar char="•"/>
            </a:pPr>
            <a:r>
              <a:rPr lang="en-US" sz="1100" b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Circuit-specific features have moderate but consistent directional influence</a:t>
            </a:r>
            <a:endParaRPr/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Arial"/>
              <a:buChar char="•"/>
            </a:pPr>
            <a:r>
              <a:rPr lang="en-US" sz="1100" b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Era encoding captures structural shifts in competitiveness across regulation periods</a:t>
            </a:r>
            <a:endParaRPr/>
          </a:p>
        </p:txBody>
      </p:sp>
      <p:sp>
        <p:nvSpPr>
          <p:cNvPr id="315" name="Google Shape;315;p13"/>
          <p:cNvSpPr/>
          <p:nvPr/>
        </p:nvSpPr>
        <p:spPr>
          <a:xfrm>
            <a:off x="219777" y="3003804"/>
            <a:ext cx="596445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/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Arial"/>
              <a:buChar char="•"/>
            </a:pPr>
            <a:r>
              <a:rPr lang="en-US" sz="1100" b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Permutation importance computed on test set with 8 repeats for stability</a:t>
            </a:r>
            <a:endParaRPr/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Arial"/>
              <a:buChar char="•"/>
            </a:pPr>
            <a:r>
              <a:rPr lang="en-US" sz="1100" b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SHAP TreeExplainer applied to best tree-based model on 1,000-sample subset</a:t>
            </a:r>
            <a:endParaRPr/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Arial"/>
              <a:buChar char="•"/>
            </a:pPr>
            <a:r>
              <a:rPr lang="en-US" sz="1100" b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Both methods confirm grid position and constructor strength as dominant predictive signals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Ensemble Learning Results</a:t>
            </a:r>
            <a:endParaRPr/>
          </a:p>
        </p:txBody>
      </p:sp>
      <p:sp>
        <p:nvSpPr>
          <p:cNvPr id="324" name="Google Shape;324;p14"/>
          <p:cNvSpPr/>
          <p:nvPr/>
        </p:nvSpPr>
        <p:spPr>
          <a:xfrm>
            <a:off x="365760" y="68580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Four ensemble strategies built from the top 2 validation models (Random Forest, Gradient Boosting)</a:t>
            </a:r>
            <a:endParaRPr/>
          </a:p>
        </p:txBody>
      </p:sp>
      <p:graphicFrame>
        <p:nvGraphicFramePr>
          <p:cNvPr id="325" name="Google Shape;325;p14"/>
          <p:cNvGraphicFramePr/>
          <p:nvPr/>
        </p:nvGraphicFramePr>
        <p:xfrm>
          <a:off x="457200" y="1005840"/>
          <a:ext cx="8229575" cy="1219250"/>
        </p:xfrm>
        <a:graphic>
          <a:graphicData uri="http://schemas.openxmlformats.org/drawingml/2006/table">
            <a:tbl>
              <a:tblPr firstRow="1" bandRow="1">
                <a:noFill/>
                <a:tableStyleId>{D66134A7-EA12-46B3-960F-E878C2FED40C}</a:tableStyleId>
              </a:tblPr>
              <a:tblGrid>
                <a:gridCol w="219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Ensemble Method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 PR AUC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 PR AUC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 ROC AUC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 F1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4E2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Soft Voting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0.808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0.845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0.867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0.797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Weighted Voting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0.808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0.845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0.867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0.797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Stacking (Meta-LR)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0.809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0.842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0.868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0.798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E8E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Hard Voting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0.723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0.763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0.816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0.794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6" name="Google Shape;326;p14"/>
          <p:cNvSpPr/>
          <p:nvPr/>
        </p:nvSpPr>
        <p:spPr>
          <a:xfrm>
            <a:off x="548640" y="23774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Best Single Model</a:t>
            </a:r>
            <a:endParaRPr dirty="0"/>
          </a:p>
        </p:txBody>
      </p:sp>
      <p:sp>
        <p:nvSpPr>
          <p:cNvPr id="327" name="Google Shape;327;p14"/>
          <p:cNvSpPr/>
          <p:nvPr/>
        </p:nvSpPr>
        <p:spPr>
          <a:xfrm>
            <a:off x="548640" y="2400000"/>
            <a:ext cx="393192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Gradient Boosting</a:t>
            </a:r>
            <a:endParaRPr/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Test ROC AUC: 0.864</a:t>
            </a:r>
            <a:endParaRPr/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Test PR AUC: 0.852</a:t>
            </a:r>
            <a:endParaRPr/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Test F1: 0.789</a:t>
            </a:r>
            <a:endParaRPr/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Fastest inference, simplest to deploy</a:t>
            </a:r>
            <a:endParaRPr/>
          </a:p>
        </p:txBody>
      </p:sp>
      <p:sp>
        <p:nvSpPr>
          <p:cNvPr id="328" name="Google Shape;328;p14"/>
          <p:cNvSpPr/>
          <p:nvPr/>
        </p:nvSpPr>
        <p:spPr>
          <a:xfrm>
            <a:off x="4846320" y="24000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Best Ensemble</a:t>
            </a:r>
            <a:endParaRPr dirty="0"/>
          </a:p>
        </p:txBody>
      </p:sp>
      <p:sp>
        <p:nvSpPr>
          <p:cNvPr id="329" name="Google Shape;329;p14"/>
          <p:cNvSpPr/>
          <p:nvPr/>
        </p:nvSpPr>
        <p:spPr>
          <a:xfrm>
            <a:off x="4846320" y="2400000"/>
            <a:ext cx="393192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Stacking (Meta-LR)</a:t>
            </a:r>
            <a:endParaRPr/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Test ROC AUC: 0.868</a:t>
            </a:r>
            <a:endParaRPr/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Test PR AUC: 0.842</a:t>
            </a:r>
            <a:endParaRPr/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Test F1: 0.798</a:t>
            </a:r>
            <a:endParaRPr/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Marginal ROC gain, lower PR AUC</a:t>
            </a:r>
            <a:endParaRPr/>
          </a:p>
        </p:txBody>
      </p:sp>
      <p:sp>
        <p:nvSpPr>
          <p:cNvPr id="330" name="Google Shape;330;p14"/>
          <p:cNvSpPr/>
          <p:nvPr/>
        </p:nvSpPr>
        <p:spPr>
          <a:xfrm>
            <a:off x="548640" y="388000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Takeaway</a:t>
            </a:r>
            <a:endParaRPr/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Ensembles match but do not clearly exceed the best single model (Gradient Boosting) on this dataset</a:t>
            </a:r>
            <a:endParaRPr/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Gradient Boosting is recommended for deployment due to comparable performance with simpler architecture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Northwestern University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Filtering Dashboard built with ipywidgets + Plotly inside the notebook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Features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1645920"/>
            <a:ext cx="54864" cy="36576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6126480" y="164592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Range Slider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any period from 1950–2024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2103120"/>
            <a:ext cx="54864" cy="36576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6126480" y="210312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Dropdown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regulation periods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2560320"/>
            <a:ext cx="54864" cy="36576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6126480" y="256032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Filter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constructor performance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3017520"/>
            <a:ext cx="54864" cy="36576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6126480" y="301752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Filter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individual drivers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0" y="3474720"/>
            <a:ext cx="54864" cy="36576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9" name="Text 17"/>
          <p:cNvSpPr/>
          <p:nvPr/>
        </p:nvSpPr>
        <p:spPr>
          <a:xfrm>
            <a:off x="6126480" y="347472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Period, races, drivers, top-10 rate, DNF rate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3931920"/>
            <a:ext cx="54864" cy="36576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1" name="Text 19"/>
          <p:cNvSpPr/>
          <p:nvPr/>
        </p:nvSpPr>
        <p:spPr>
          <a:xfrm>
            <a:off x="6126480" y="393192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Interactive Charts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grid position, top drivers, constructors, era comparison, circuit explorer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Full interactive dashboard runs in the Jupyter notebook with filter controls at top.</a:t>
            </a:r>
            <a:endParaRPr lang="en-US" sz="900" dirty="0"/>
          </a:p>
        </p:txBody>
      </p:sp>
      <p:pic>
        <p:nvPicPr>
          <p:cNvPr id="24" name="Picture 23" descr="A screenshot of a graph&#10;&#10;AI-generated content may be incorrect.">
            <a:extLst>
              <a:ext uri="{FF2B5EF4-FFF2-40B4-BE49-F238E27FC236}">
                <a16:creationId xmlns:a16="http://schemas.microsoft.com/office/drawing/2014/main" id="{0CCE1919-4CF8-2622-F02D-DCBB4F88375A}"/>
              </a:ext>
            </a:extLst>
          </p:cNvPr>
          <p:cNvPicPr>
            <a:picLocks/>
          </p:cNvPicPr>
          <p:nvPr/>
        </p:nvPicPr>
        <p:blipFill>
          <a:blip r:embed="rId3"/>
          <a:srcRect t="9071"/>
          <a:stretch>
            <a:fillRect/>
          </a:stretch>
        </p:blipFill>
        <p:spPr>
          <a:xfrm>
            <a:off x="389521" y="1307508"/>
            <a:ext cx="5256000" cy="2871383"/>
          </a:xfrm>
          <a:prstGeom prst="rect">
            <a:avLst/>
          </a:prstGeom>
          <a:ln w="38100">
            <a:solidFill>
              <a:srgbClr val="4E2A84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5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/>
          </a:p>
        </p:txBody>
      </p:sp>
      <p:sp>
        <p:nvSpPr>
          <p:cNvPr id="338" name="Google Shape;338;p15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Deployment &amp; Monitoring</a:t>
            </a:r>
            <a:endParaRPr/>
          </a:p>
        </p:txBody>
      </p:sp>
      <p:sp>
        <p:nvSpPr>
          <p:cNvPr id="339" name="Google Shape;339;p15"/>
          <p:cNvSpPr/>
          <p:nvPr/>
        </p:nvSpPr>
        <p:spPr>
          <a:xfrm>
            <a:off x="457200" y="731520"/>
            <a:ext cx="365760" cy="36576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0" name="Google Shape;340;p15"/>
          <p:cNvSpPr/>
          <p:nvPr/>
        </p:nvSpPr>
        <p:spPr>
          <a:xfrm>
            <a:off x="1005840" y="685800"/>
            <a:ext cx="75895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Model Registry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Best model and scaler saved via joblib for reproducible deployment. Feature list and metadata stored as JSON artifacts.</a:t>
            </a:r>
            <a:endParaRPr/>
          </a:p>
        </p:txBody>
      </p:sp>
      <p:sp>
        <p:nvSpPr>
          <p:cNvPr id="341" name="Google Shape;341;p15"/>
          <p:cNvSpPr/>
          <p:nvPr/>
        </p:nvSpPr>
        <p:spPr>
          <a:xfrm>
            <a:off x="457200" y="1481328"/>
            <a:ext cx="365760" cy="36576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42" name="Google Shape;342;p15"/>
          <p:cNvSpPr/>
          <p:nvPr/>
        </p:nvSpPr>
        <p:spPr>
          <a:xfrm>
            <a:off x="1005840" y="1435608"/>
            <a:ext cx="75895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BatchPredictor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Offline scoring utility that loads the serialized model and scaler, accepts a DataFrame of pre-race features, and returns top-10 probability estimates.</a:t>
            </a:r>
            <a:endParaRPr/>
          </a:p>
        </p:txBody>
      </p:sp>
      <p:sp>
        <p:nvSpPr>
          <p:cNvPr id="343" name="Google Shape;343;p15"/>
          <p:cNvSpPr/>
          <p:nvPr/>
        </p:nvSpPr>
        <p:spPr>
          <a:xfrm>
            <a:off x="457200" y="2231136"/>
            <a:ext cx="365760" cy="36576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44" name="Google Shape;344;p15"/>
          <p:cNvSpPr/>
          <p:nvPr/>
        </p:nvSpPr>
        <p:spPr>
          <a:xfrm>
            <a:off x="1005840" y="2185416"/>
            <a:ext cx="75895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ModelMonitor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Drift detection module that tracks feature distributions and prediction statistics over time. Flags when incoming data diverges from training patterns.</a:t>
            </a:r>
            <a:endParaRPr/>
          </a:p>
        </p:txBody>
      </p:sp>
      <p:sp>
        <p:nvSpPr>
          <p:cNvPr id="345" name="Google Shape;345;p15"/>
          <p:cNvSpPr/>
          <p:nvPr/>
        </p:nvSpPr>
        <p:spPr>
          <a:xfrm>
            <a:off x="457200" y="2980944"/>
            <a:ext cx="365760" cy="36576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46" name="Google Shape;346;p15"/>
          <p:cNvSpPr/>
          <p:nvPr/>
        </p:nvSpPr>
        <p:spPr>
          <a:xfrm>
            <a:off x="1005840" y="2935224"/>
            <a:ext cx="75895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Interactive Dashboard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Notebook-based dashboard with season, driver, and constructor filters. Visualizes predicted probabilities alongside actual outcomes for rapid model evaluation.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6"/>
          <p:cNvSpPr/>
          <p:nvPr/>
        </p:nvSpPr>
        <p:spPr>
          <a:xfrm>
            <a:off x="0" y="0"/>
            <a:ext cx="9144000" cy="5943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6"/>
          <p:cNvSpPr/>
          <p:nvPr/>
        </p:nvSpPr>
        <p:spPr>
          <a:xfrm>
            <a:off x="0" y="4709160"/>
            <a:ext cx="9144000" cy="4344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6"/>
          <p:cNvSpPr/>
          <p:nvPr/>
        </p:nvSpPr>
        <p:spPr>
          <a:xfrm>
            <a:off x="365760" y="4727448"/>
            <a:ext cx="3657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/>
          </a:p>
        </p:txBody>
      </p:sp>
      <p:sp>
        <p:nvSpPr>
          <p:cNvPr id="354" name="Google Shape;354;p16"/>
          <p:cNvSpPr/>
          <p:nvPr/>
        </p:nvSpPr>
        <p:spPr>
          <a:xfrm>
            <a:off x="457200" y="4572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Impact &amp; Lessons Learned</a:t>
            </a:r>
            <a:endParaRPr/>
          </a:p>
        </p:txBody>
      </p:sp>
      <p:sp>
        <p:nvSpPr>
          <p:cNvPr id="355" name="Google Shape;355;p16"/>
          <p:cNvSpPr/>
          <p:nvPr/>
        </p:nvSpPr>
        <p:spPr>
          <a:xfrm>
            <a:off x="557675" y="1220238"/>
            <a:ext cx="1810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Business Impact</a:t>
            </a:r>
            <a:endParaRPr/>
          </a:p>
        </p:txBody>
      </p:sp>
      <p:sp>
        <p:nvSpPr>
          <p:cNvPr id="356" name="Google Shape;356;p16"/>
          <p:cNvSpPr/>
          <p:nvPr/>
        </p:nvSpPr>
        <p:spPr>
          <a:xfrm>
            <a:off x="557675" y="1498950"/>
            <a:ext cx="3931800" cy="20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Builds a predictive system estimating a driver’s Top-10 finish probability before a race using historical F1 data.</a:t>
            </a:r>
            <a:endParaRPr sz="105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Provides data-driven insights for teams and analysts to evaluate race strategies (qualifying setup, tire choices, reliability risks).</a:t>
            </a:r>
            <a:endParaRPr sz="105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Enhances broadcast storytelling and race analytics by quantifying performance trends and competitive momentum.</a:t>
            </a:r>
            <a:endParaRPr sz="105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Supports fan engagement platforms such as fantasy sports and prediction markets through transparent probability forecasts.</a:t>
            </a:r>
            <a:endParaRPr sz="105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Establishes a reproducible framework for analyzing driver, constructor, and circuit performance across eras.</a:t>
            </a:r>
            <a:endParaRPr sz="105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6"/>
          <p:cNvSpPr/>
          <p:nvPr/>
        </p:nvSpPr>
        <p:spPr>
          <a:xfrm>
            <a:off x="4819250" y="1220238"/>
            <a:ext cx="1906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Lessons Learned</a:t>
            </a:r>
            <a:endParaRPr dirty="0"/>
          </a:p>
        </p:txBody>
      </p:sp>
      <p:sp>
        <p:nvSpPr>
          <p:cNvPr id="358" name="Google Shape;358;p16"/>
          <p:cNvSpPr/>
          <p:nvPr/>
        </p:nvSpPr>
        <p:spPr>
          <a:xfrm>
            <a:off x="4819250" y="1478100"/>
            <a:ext cx="3931800" cy="21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Preventing data leakage is critical in sports prediction models.</a:t>
            </a:r>
            <a:endParaRPr sz="105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Race outcomes should not influence pre-race feature construction.</a:t>
            </a:r>
            <a:endParaRPr sz="105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Three factors dominate predictive power: Grid position, Constructor strength, and Recent driver performance</a:t>
            </a:r>
            <a:endParaRPr sz="105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Combining short-term rolling metrics with long-term career statistics improves prediction stability.</a:t>
            </a:r>
            <a:endParaRPr sz="105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Extensive feature engineering improves signal quality but requires strong evaluation and interpretability checks.</a:t>
            </a:r>
            <a:endParaRPr sz="105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7"/>
          <p:cNvSpPr/>
          <p:nvPr/>
        </p:nvSpPr>
        <p:spPr>
          <a:xfrm>
            <a:off x="0" y="0"/>
            <a:ext cx="9144000" cy="5943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7"/>
          <p:cNvSpPr/>
          <p:nvPr/>
        </p:nvSpPr>
        <p:spPr>
          <a:xfrm>
            <a:off x="0" y="4709160"/>
            <a:ext cx="9144000" cy="4344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7"/>
          <p:cNvSpPr/>
          <p:nvPr/>
        </p:nvSpPr>
        <p:spPr>
          <a:xfrm>
            <a:off x="365760" y="4727448"/>
            <a:ext cx="3657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/>
          </a:p>
        </p:txBody>
      </p:sp>
      <p:sp>
        <p:nvSpPr>
          <p:cNvPr id="366" name="Google Shape;366;p17"/>
          <p:cNvSpPr/>
          <p:nvPr/>
        </p:nvSpPr>
        <p:spPr>
          <a:xfrm>
            <a:off x="457200" y="4572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Assumptions &amp; Limitations in the Analysis</a:t>
            </a:r>
            <a:endParaRPr/>
          </a:p>
        </p:txBody>
      </p:sp>
      <p:sp>
        <p:nvSpPr>
          <p:cNvPr id="367" name="Google Shape;367;p17"/>
          <p:cNvSpPr/>
          <p:nvPr/>
        </p:nvSpPr>
        <p:spPr>
          <a:xfrm>
            <a:off x="548650" y="1126363"/>
            <a:ext cx="1710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Assumptions</a:t>
            </a:r>
            <a:endParaRPr dirty="0"/>
          </a:p>
        </p:txBody>
      </p:sp>
      <p:sp>
        <p:nvSpPr>
          <p:cNvPr id="368" name="Google Shape;368;p17"/>
          <p:cNvSpPr/>
          <p:nvPr/>
        </p:nvSpPr>
        <p:spPr>
          <a:xfrm>
            <a:off x="548650" y="1405075"/>
            <a:ext cx="3931800" cy="25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All engineered features represent information available before race start to prevent data leakage.</a:t>
            </a:r>
            <a:endParaRPr sz="105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Rolling statistics (e.g., last-5 race performance) are built using historically shifted windows.</a:t>
            </a:r>
            <a:endParaRPr sz="105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Top-10 finish is used as a consistent proxy for race success across different eras.</a:t>
            </a:r>
            <a:endParaRPr sz="105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Missing qualifying data is approximated using grid position and median imputation.</a:t>
            </a:r>
            <a:endParaRPr sz="105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Label encoding assumes tree-based models can learn entity differences without artificial ordering.</a:t>
            </a:r>
            <a:endParaRPr sz="105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Time-based data split:</a:t>
            </a:r>
            <a:endParaRPr sz="105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Train: &lt;2018</a:t>
            </a:r>
            <a:endParaRPr sz="105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Validation: 2019–2021</a:t>
            </a:r>
            <a:endParaRPr sz="105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Test: 2022–2024</a:t>
            </a:r>
            <a:endParaRPr sz="105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7"/>
          <p:cNvSpPr/>
          <p:nvPr/>
        </p:nvSpPr>
        <p:spPr>
          <a:xfrm>
            <a:off x="4810225" y="1126363"/>
            <a:ext cx="1473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dirty="0"/>
          </a:p>
        </p:txBody>
      </p:sp>
      <p:sp>
        <p:nvSpPr>
          <p:cNvPr id="370" name="Google Shape;370;p17"/>
          <p:cNvSpPr/>
          <p:nvPr/>
        </p:nvSpPr>
        <p:spPr>
          <a:xfrm>
            <a:off x="4810225" y="1405075"/>
            <a:ext cx="3931800" cy="29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Formula One evolves over time, with rule changes, technological advances, and competitive shifts affecting model stability.</a:t>
            </a:r>
            <a:endParaRPr sz="105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Dataset lacks important contextual variables such as: weather conditions, safety car events, pit strategy, penalties, and tire compounds</a:t>
            </a:r>
            <a:endParaRPr sz="105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Early-era missing qualifying data required imputation, potentially weakening signal quality.</a:t>
            </a:r>
            <a:endParaRPr sz="105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Several engineered features exhibit multicollinearity, complicating interpretation.</a:t>
            </a:r>
            <a:endParaRPr sz="105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Repeated driver-season patterns may create residual dependence, affecting generalization.</a:t>
            </a:r>
            <a:endParaRPr sz="105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No weather or safety car data — key real-time variables unavailable in the dataset</a:t>
            </a:r>
            <a:endParaRPr sz="105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Label-encoded categorical may not capture constructor/driver relationships optimally</a:t>
            </a:r>
            <a:endParaRPr sz="105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Model assumes static pre-race features; in-race dynamics are excluded by design</a:t>
            </a:r>
            <a:endParaRPr sz="105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8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8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/>
          </a:p>
        </p:txBody>
      </p:sp>
      <p:sp>
        <p:nvSpPr>
          <p:cNvPr id="378" name="Google Shape;378;p18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Conclusions &amp; Future Work</a:t>
            </a:r>
            <a:endParaRPr/>
          </a:p>
        </p:txBody>
      </p:sp>
      <p:sp>
        <p:nvSpPr>
          <p:cNvPr id="379" name="Google Shape;379;p18"/>
          <p:cNvSpPr/>
          <p:nvPr/>
        </p:nvSpPr>
        <p:spPr>
          <a:xfrm>
            <a:off x="439046" y="1216925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dirty="0"/>
          </a:p>
        </p:txBody>
      </p:sp>
      <p:sp>
        <p:nvSpPr>
          <p:cNvPr id="380" name="Google Shape;380;p18"/>
          <p:cNvSpPr/>
          <p:nvPr/>
        </p:nvSpPr>
        <p:spPr>
          <a:xfrm>
            <a:off x="384365" y="1552075"/>
            <a:ext cx="3915261" cy="23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Gradient Boosting achieves the best single-model performance (PR AUC 0.852, ROC AUC 0.864 on test)</a:t>
            </a:r>
            <a:endParaRPr sz="1500"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Ensemble methods match but do not clearly exceed the best single model</a:t>
            </a:r>
            <a:endParaRPr sz="1500"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Grid position and constructor strength are the dominant predictive features confirmed by SHAP</a:t>
            </a:r>
            <a:endParaRPr sz="1500"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The temporal split confirms generalization — no overfitting across a 6+ year test period</a:t>
            </a:r>
            <a:endParaRPr sz="1500"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All five models significantly outperform the grid-only baseline (PR AUC 0.724)</a:t>
            </a:r>
            <a:endParaRPr sz="1500" dirty="0"/>
          </a:p>
        </p:txBody>
      </p:sp>
      <p:sp>
        <p:nvSpPr>
          <p:cNvPr id="381" name="Google Shape;381;p18"/>
          <p:cNvSpPr/>
          <p:nvPr/>
        </p:nvSpPr>
        <p:spPr>
          <a:xfrm>
            <a:off x="4782185" y="1277875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Future Directions</a:t>
            </a:r>
            <a:endParaRPr dirty="0"/>
          </a:p>
        </p:txBody>
      </p:sp>
      <p:sp>
        <p:nvSpPr>
          <p:cNvPr id="382" name="Google Shape;382;p18"/>
          <p:cNvSpPr/>
          <p:nvPr/>
        </p:nvSpPr>
        <p:spPr>
          <a:xfrm>
            <a:off x="4782185" y="1552075"/>
            <a:ext cx="4225628" cy="2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Integrate weather and safety car data as identified by Jafri (2024)</a:t>
            </a:r>
            <a:endParaRPr sz="1500"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Explore </a:t>
            </a:r>
            <a:r>
              <a:rPr lang="en-US" sz="1050" b="0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LightGBM</a:t>
            </a:r>
            <a:r>
              <a:rPr lang="en-US" sz="1050" b="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1050" b="0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TabNet</a:t>
            </a:r>
            <a:r>
              <a:rPr lang="en-US" sz="1050" b="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for additional gradient boosting baselines</a:t>
            </a:r>
            <a:endParaRPr sz="1500"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Build a live prediction interface for pre-race probability estimates</a:t>
            </a:r>
            <a:endParaRPr sz="1500"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Extend to multi-class position prediction (e.g., podium, points zone)</a:t>
            </a:r>
            <a:endParaRPr sz="1050" b="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Enforce a strict pre-race feature set to avoid outcome leakage.</a:t>
            </a:r>
            <a:endParaRPr sz="105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Apply hyperparameter tuning and probability calibration.</a:t>
            </a:r>
            <a:endParaRPr sz="105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Conduct cross-era evaluation to detect performance degradation from regulatory changes.</a:t>
            </a:r>
            <a:endParaRPr sz="105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Integrate additional contextual data such as weather, safety cars, penalties, and tire strategies.</a:t>
            </a:r>
            <a:endParaRPr sz="105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Deploy the best model as a production inference pipeline (batch or API) with monitoring and periodic retraining.</a:t>
            </a:r>
            <a:endParaRPr sz="105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Northwestern University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393192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320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777240"/>
            <a:ext cx="77724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Bansal, A. 2025. Advanced Machine Learning Approaches for Formula 1 Race Performance Prediction. doi:10.13140/RG.2.2.20910.01607.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07008"/>
            <a:ext cx="8412480" cy="3931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Text 8"/>
          <p:cNvSpPr/>
          <p:nvPr/>
        </p:nvSpPr>
        <p:spPr>
          <a:xfrm>
            <a:off x="457200" y="1207008"/>
            <a:ext cx="320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1207008"/>
            <a:ext cx="77724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Gu, Y., Q. Liu, K. Zhang, Z. Huang, R. Wu, and J. Tao. 2021. "NeuralAC: Learning Cooperation and Competition Effects." AAAI 35(5): 4072–80.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636776"/>
            <a:ext cx="8412480" cy="393192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457200" y="1636776"/>
            <a:ext cx="320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1636776"/>
            <a:ext cx="77724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Jafri, A. 2024. Predicting Formula 1 Race Outcomes: A Machine Learning Approach. Capstone project.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066544"/>
            <a:ext cx="8412480" cy="3931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6" name="Text 14"/>
          <p:cNvSpPr/>
          <p:nvPr/>
        </p:nvSpPr>
        <p:spPr>
          <a:xfrm>
            <a:off x="457200" y="2066544"/>
            <a:ext cx="320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2066544"/>
            <a:ext cx="77724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Patil, A., N. Jain, R. Agrahari, M. Hossari, F. Orlandi, and S. Dev. 2023. "A Data-Driven Analysis of Formula 1 Car Races Outcome." CCIS, 134–46.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496312"/>
            <a:ext cx="8412480" cy="393192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9" name="Text 17"/>
          <p:cNvSpPr/>
          <p:nvPr/>
        </p:nvSpPr>
        <p:spPr>
          <a:xfrm>
            <a:off x="457200" y="2496312"/>
            <a:ext cx="320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2496312"/>
            <a:ext cx="77724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Rockerbie, D. W., and S. T. Easton. 2022. "Race to the Podium." Applied Economics 54(54): 6272–85.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926080"/>
            <a:ext cx="8412480" cy="3931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2" name="Text 20"/>
          <p:cNvSpPr/>
          <p:nvPr/>
        </p:nvSpPr>
        <p:spPr>
          <a:xfrm>
            <a:off x="457200" y="2926080"/>
            <a:ext cx="320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2926080"/>
            <a:ext cx="77724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Urdhwareshe, A. 2025. "The Use of Machine Learning in Predicting Formula 1 Race Outcomes." Preprints.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355848"/>
            <a:ext cx="8412480" cy="393192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5" name="Text 23"/>
          <p:cNvSpPr/>
          <p:nvPr/>
        </p:nvSpPr>
        <p:spPr>
          <a:xfrm>
            <a:off x="457200" y="3355848"/>
            <a:ext cx="320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" y="3355848"/>
            <a:ext cx="77724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Kesteren, E.-J., and T. Bergkamp. 2023. "Bayesian Analysis of Formula One Race Results." JQAS 19(4): 273–93.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785616"/>
            <a:ext cx="8412480" cy="3931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8" name="Text 26"/>
          <p:cNvSpPr/>
          <p:nvPr/>
        </p:nvSpPr>
        <p:spPr>
          <a:xfrm>
            <a:off x="457200" y="3785616"/>
            <a:ext cx="320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" y="3785616"/>
            <a:ext cx="77724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Vopani. 2025. Formula 1 World Championship (1950–2024). Kaggle.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4215384"/>
            <a:ext cx="8412480" cy="393192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1" name="Text 29"/>
          <p:cNvSpPr/>
          <p:nvPr/>
        </p:nvSpPr>
        <p:spPr>
          <a:xfrm>
            <a:off x="457200" y="4215384"/>
            <a:ext cx="320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" y="4215384"/>
            <a:ext cx="77724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Zheng, X. 2022. "NBA Winner Prediction: A Hybrid Framework." Proc. 4th Int. Conf. Big Data Engineering, 71–80.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Northwestern University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55596"/>
              </p:ext>
            </p:extLst>
          </p:nvPr>
        </p:nvGraphicFramePr>
        <p:xfrm>
          <a:off x="275609" y="777239"/>
          <a:ext cx="8539982" cy="3194123"/>
        </p:xfrm>
        <a:graphic>
          <a:graphicData uri="http://schemas.openxmlformats.org/drawingml/2006/table">
            <a:tbl>
              <a:tblPr/>
              <a:tblGrid>
                <a:gridCol w="1485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18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18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18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18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18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18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184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136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Oversight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 Future Work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2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0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E2A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 Alsiyat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8B9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8B9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8B9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8B9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8B9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8B9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8B9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0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E2A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Qifan Yang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8B9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8B9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8B9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8B9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8B9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8B9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0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E2A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Boqi Niu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8B9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8B9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8B9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8B9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8B9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8B9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8B9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9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36EA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9"/>
          <p:cNvSpPr/>
          <p:nvPr/>
        </p:nvSpPr>
        <p:spPr>
          <a:xfrm>
            <a:off x="365760" y="4572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0" name="Google Shape;390;p19" descr="preencoded.png"/>
          <p:cNvPicPr preferRelativeResize="0"/>
          <p:nvPr/>
        </p:nvPicPr>
        <p:blipFill rotWithShape="1">
          <a:blip r:embed="rId3">
            <a:alphaModFix amt="80000"/>
          </a:blip>
          <a:srcRect/>
          <a:stretch/>
        </p:blipFill>
        <p:spPr>
          <a:xfrm>
            <a:off x="3886200" y="118872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19"/>
          <p:cNvSpPr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you...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9"/>
          <p:cNvSpPr/>
          <p:nvPr/>
        </p:nvSpPr>
        <p:spPr>
          <a:xfrm>
            <a:off x="1828800" y="34747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0F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E8E0F0"/>
                </a:solidFill>
                <a:latin typeface="Calibri"/>
                <a:ea typeface="Calibri"/>
                <a:cs typeface="Calibri"/>
                <a:sym typeface="Calibri"/>
              </a:rPr>
              <a:t>Sara Alsiyat  ·  Qifan Yang  ·  Boqi Niu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9"/>
          <p:cNvSpPr/>
          <p:nvPr/>
        </p:nvSpPr>
        <p:spPr>
          <a:xfrm>
            <a:off x="1828800" y="39319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0F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8E0F0"/>
                </a:solidFill>
                <a:latin typeface="Calibri"/>
                <a:ea typeface="Calibri"/>
                <a:cs typeface="Calibri"/>
                <a:sym typeface="Calibri"/>
              </a:rPr>
              <a:t>MSDS 422  ·  Dr. Irene Tsapara  ·  Northwestern University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836EA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9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2757</Words>
  <Application>Microsoft Macintosh PowerPoint</Application>
  <PresentationFormat>On-screen Show (16:9)</PresentationFormat>
  <Paragraphs>554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Abdullah Alsiyat</cp:lastModifiedBy>
  <cp:revision>5</cp:revision>
  <dcterms:modified xsi:type="dcterms:W3CDTF">2026-03-07T05:16:29Z</dcterms:modified>
</cp:coreProperties>
</file>