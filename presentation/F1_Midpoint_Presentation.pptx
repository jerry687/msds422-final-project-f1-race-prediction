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42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1F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3232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One Race Outcome Prediction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Feature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422: Practical Machine Learning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Alsiyat  ·  Qifan Yang  ·  Boqi Niu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Irene Tsapara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411480" cy="411480"/>
          </a:xfrm>
          <a:prstGeom prst="ellipse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F1 top-10 finishes?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490472"/>
            <a:ext cx="411480" cy="411480"/>
          </a:xfrm>
          <a:prstGeom prst="ellipse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54864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444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Strategy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7190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merged into one unified 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12264"/>
            <a:ext cx="411480" cy="411480"/>
          </a:xfrm>
          <a:prstGeom prst="ellipse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48640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066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3408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and insights from 74 years of F1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34056"/>
            <a:ext cx="411480" cy="411480"/>
          </a:xfrm>
          <a:prstGeom prst="ellipse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54864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688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9626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leakage-safe features across 12 categories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55848"/>
            <a:ext cx="411480" cy="411480"/>
          </a:xfrm>
          <a:prstGeom prst="ellipse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54864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584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ensured model integrity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 &amp; Next Steps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206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and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931920" cy="356616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race outcomes depend on driver skill, constructor performance, track characteristics, and race conditions.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in the top 10 determines whether a driver earns championship points, a critical threshold for competitive success.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 learning predict top-10 finishes using only pre-race information?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356616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60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ML models for top-10 finish prediction using historical F1 data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qualifying position, constructor, driver history, and circuit affect outcomes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circuit-level variation in race unpredictability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for accuracy, interpretability, and decision-support value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Integration Strategy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920240" cy="91440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1950–2024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1920240" cy="91440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251460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Driver–Race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920240" cy="91440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Merged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777240"/>
            <a:ext cx="1920240" cy="91440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6812280" y="777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Created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Integrated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54864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20"/>
          <p:cNvSpPr/>
          <p:nvPr/>
        </p:nvSpPr>
        <p:spPr>
          <a:xfrm>
            <a:off x="265176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Text 22"/>
          <p:cNvSpPr/>
          <p:nvPr/>
        </p:nvSpPr>
        <p:spPr>
          <a:xfrm>
            <a:off x="475488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Text 24"/>
          <p:cNvSpPr/>
          <p:nvPr/>
        </p:nvSpPr>
        <p:spPr>
          <a:xfrm>
            <a:off x="685800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Text 26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Text 28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3" name="Text 30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5" name="Text 32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Stops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7" name="Text 34"/>
          <p:cNvSpPr/>
          <p:nvPr/>
        </p:nvSpPr>
        <p:spPr>
          <a:xfrm>
            <a:off x="5486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Times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9" name="Text 36"/>
          <p:cNvSpPr/>
          <p:nvPr/>
        </p:nvSpPr>
        <p:spPr>
          <a:xfrm>
            <a:off x="26517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Standings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solidFill>
            <a:srgbClr val="E8E0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1" name="Text 38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Standings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3" name="Text 40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top10_finish — binary indicator (1 = driver finished in top 10, 0 = otherwise). Derived from positionOrder ≤ 10.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886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Position Dominance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325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position is the strongest predictor of top-10 finishes. Pole position converts to top-10 at &gt;95% rate; grid 15+ drops below 30%.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77724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4754880" y="77724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9144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886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Effect: 88%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1325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Kesteren &amp; Bergkamp (2023) found ~88% of F1 result variance is attributable to the constructor, not the driver.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265176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3"/>
          <p:cNvSpPr/>
          <p:nvPr/>
        </p:nvSpPr>
        <p:spPr>
          <a:xfrm>
            <a:off x="365760" y="265176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889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 Decline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94360" y="3200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Finish rates have dropped from ~40% in the 1950s to under 10% in recent seasons, reflecting reliability improvements.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651760"/>
            <a:ext cx="4114800" cy="169164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Shape 17"/>
          <p:cNvSpPr/>
          <p:nvPr/>
        </p:nvSpPr>
        <p:spPr>
          <a:xfrm>
            <a:off x="4754880" y="2651760"/>
            <a:ext cx="54864" cy="16916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7889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Variation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83480" y="3200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circuits show much higher position volatility, suggesting more unpredictable races — important for modeling uncertainty.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35+ Features Across 12 Categories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32004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41148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age, race month,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stage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251460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260604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5-race top-10 rate,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rate, avg position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470916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480060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rolling stats,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top-10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7616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6903720" y="7616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995160" y="8530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12645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rate, volatility,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driver-circuit history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32004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41148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Driver–Team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together,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success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Shape 25"/>
          <p:cNvSpPr/>
          <p:nvPr/>
        </p:nvSpPr>
        <p:spPr>
          <a:xfrm>
            <a:off x="251460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260604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position, front-row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top-5/top-10 flags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Shape 29"/>
          <p:cNvSpPr/>
          <p:nvPr/>
        </p:nvSpPr>
        <p:spPr>
          <a:xfrm>
            <a:off x="470916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480060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size,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percentile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2133210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5" name="Shape 33"/>
          <p:cNvSpPr/>
          <p:nvPr/>
        </p:nvSpPr>
        <p:spPr>
          <a:xfrm>
            <a:off x="6903720" y="2133210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6995160" y="22246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263613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streak, points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3, position trend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9" name="Shape 37"/>
          <p:cNvSpPr/>
          <p:nvPr/>
        </p:nvSpPr>
        <p:spPr>
          <a:xfrm>
            <a:off x="32004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41148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Stop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stops per race,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pit efficiency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1460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3" name="Shape 41"/>
          <p:cNvSpPr/>
          <p:nvPr/>
        </p:nvSpPr>
        <p:spPr>
          <a:xfrm>
            <a:off x="251460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260604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0604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 position,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gap to leader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7" name="Shape 45"/>
          <p:cNvSpPr/>
          <p:nvPr/>
        </p:nvSpPr>
        <p:spPr>
          <a:xfrm>
            <a:off x="470916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480060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era encoding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(1950s to ground effect)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3465735"/>
            <a:ext cx="20116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1" name="Shape 49"/>
          <p:cNvSpPr/>
          <p:nvPr/>
        </p:nvSpPr>
        <p:spPr>
          <a:xfrm>
            <a:off x="6903720" y="3465735"/>
            <a:ext cx="2011680" cy="4572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6995160" y="355717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95160" y="3968655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driver,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constructor, circuit, country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The Issue &amp; The Fix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models scored 1.000 ROC AUC — a clear sign of data leakage.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Post-race features were included as model inputs: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positionOrder — directly defines the 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— only awarded to top-10 finishers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milliseconds, laps — post-race outcome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standings included current race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22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B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Fixed It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46320" y="12801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Leakage Guard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blocklist of 12+ post-race columns removed from feature matrix.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shift(1) on All Rolling Features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expanding/rolling window excludes the current race.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Standings Fix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to previous round's standings so model only sees pre-race info.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Audit Cell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 flags any feature with |correlation| &gt; 0.85 to the target.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3-way split:  Train (&lt; 2018)  |  Validation (2018–2021)  |  Test Holdout (2022–2024)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(2018–2021)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840480" cy="975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Holdout (2022–2024)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840480" cy="975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3246120"/>
            <a:ext cx="8412480" cy="1188720"/>
          </a:xfrm>
          <a:prstGeom prst="rect">
            <a:avLst/>
          </a:prstGeom>
          <a:solidFill>
            <a:srgbClr val="F7F5F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best overall performance (0.869 ROC AUC on holdout)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slightly higher than validation — no overfitting detected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use only pre-race features after leakage fix — results are realistic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Strategy &amp;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640080" cy="640080"/>
          </a:xfrm>
          <a:prstGeom prst="ellipse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F1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CSV tables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1234440"/>
            <a:ext cx="274320" cy="0"/>
          </a:xfrm>
          <a:prstGeom prst="line">
            <a:avLst/>
          </a:prstGeom>
          <a:noFill/>
          <a:ln w="25400">
            <a:solidFill>
              <a:srgbClr val="836EA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2057400" y="914400"/>
            <a:ext cx="640080" cy="640080"/>
          </a:xfrm>
          <a:prstGeom prst="ellipse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205740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driver–race rows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1234440"/>
            <a:ext cx="274320" cy="0"/>
          </a:xfrm>
          <a:prstGeom prst="line">
            <a:avLst/>
          </a:prstGeom>
          <a:noFill/>
          <a:ln w="25400">
            <a:solidFill>
              <a:srgbClr val="836EA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3520440" y="914400"/>
            <a:ext cx="640080" cy="640080"/>
          </a:xfrm>
          <a:prstGeom prst="ellipse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352044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1234440"/>
            <a:ext cx="274320" cy="0"/>
          </a:xfrm>
          <a:prstGeom prst="line">
            <a:avLst/>
          </a:prstGeom>
          <a:noFill/>
          <a:ln w="25400">
            <a:solidFill>
              <a:srgbClr val="836EA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9"/>
          <p:cNvSpPr/>
          <p:nvPr/>
        </p:nvSpPr>
        <p:spPr>
          <a:xfrm>
            <a:off x="4983480" y="914400"/>
            <a:ext cx="640080" cy="640080"/>
          </a:xfrm>
          <a:prstGeom prst="ellipse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498348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shift(1) safe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1234440"/>
            <a:ext cx="274320" cy="0"/>
          </a:xfrm>
          <a:prstGeom prst="line">
            <a:avLst/>
          </a:prstGeom>
          <a:noFill/>
          <a:ln w="25400">
            <a:solidFill>
              <a:srgbClr val="836EA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Shape 24"/>
          <p:cNvSpPr/>
          <p:nvPr/>
        </p:nvSpPr>
        <p:spPr>
          <a:xfrm>
            <a:off x="6446520" y="914400"/>
            <a:ext cx="640080" cy="640080"/>
          </a:xfrm>
          <a:prstGeom prst="ellipse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644652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post-race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60920" y="1234440"/>
            <a:ext cx="274320" cy="0"/>
          </a:xfrm>
          <a:prstGeom prst="line">
            <a:avLst/>
          </a:prstGeom>
          <a:noFill/>
          <a:ln w="25400">
            <a:solidFill>
              <a:srgbClr val="836EA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Shape 29"/>
          <p:cNvSpPr/>
          <p:nvPr/>
        </p:nvSpPr>
        <p:spPr>
          <a:xfrm>
            <a:off x="7909560" y="914400"/>
            <a:ext cx="640080" cy="640080"/>
          </a:xfrm>
          <a:prstGeom prst="ellipse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790956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8952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RF, GB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split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EDA → feature engineering → modeling → evaluation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model comparison: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split, same preprocessing, same metrics across all models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Pipeline-based preprocessing: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transformations applied in a structured, reusable way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Validation-first mindset: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choices based on validation results; test set held out for final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Future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365760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731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/ Bayesian optimization on Random Forest and Gradient Boosting using the validation 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365760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5720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48132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and TabNet (Urdhwareshe, 2025) for stronger gradient boosting baselines.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365760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57200" y="2276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23113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explanations to understand which factors drive individual predictions.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365760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457200" y="3026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80944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Safety Car Data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real-time race variables as identified by Jafri (2024) for improved accuracy.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76472"/>
            <a:ext cx="365760" cy="365760"/>
          </a:xfrm>
          <a:prstGeom prst="rect">
            <a:avLst/>
          </a:prstGeom>
          <a:solidFill>
            <a:srgbClr val="4E2A8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45720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3075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2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prediction interface for pre-race top-10 probability estimates.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01F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you...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Alsiyat  ·  Qifan Yang  ·  Boqi Niu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422  ·  Dr. Irene Tsapara  ·  Northwestern University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36EAA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65760" y="4727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1005</Words>
  <Application>Microsoft Macintosh PowerPoint</Application>
  <PresentationFormat>On-screen Show (16:9)</PresentationFormat>
  <Paragraphs>252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 One Race Outcome Prediction</dc:title>
  <dc:subject>F1 Presentation</dc:subject>
  <dc:creator>Sara Alsiyat</dc:creator>
  <cp:keywords/>
  <dc:description/>
  <cp:lastModifiedBy>Sara Abdullah Alsiyat</cp:lastModifiedBy>
  <cp:revision>2</cp:revision>
  <dcterms:created xsi:type="dcterms:W3CDTF">2026-02-09T00:02:25Z</dcterms:created>
  <dcterms:modified xsi:type="dcterms:W3CDTF">2026-02-09T00:10:14Z</dcterms:modified>
  <cp:category/>
</cp:coreProperties>
</file>